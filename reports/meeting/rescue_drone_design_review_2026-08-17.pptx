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130006368d04277" /><Relationship Type="http://schemas.openxmlformats.org/officeDocument/2006/relationships/extended-properties" Target="/docProps/app.xml" Id="Ree68caa37fed43ff" /><Relationship Type="http://schemas.openxmlformats.org/officeDocument/2006/relationships/officeDocument" Target="/ppt/presentation.xml" Id="R2dd8e9664297458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03e3cd3dc964ce5"/>
  </p:sldMasterIdLst>
  <p:notesMasterIdLst>
    <p:notesMasterId xmlns:r="http://schemas.openxmlformats.org/officeDocument/2006/relationships" r:id="Rcce1ba9c58464b85"/>
  </p:notesMasterIdLst>
  <p:sldIdLst>
    <p:sldId xmlns:r="http://schemas.openxmlformats.org/officeDocument/2006/relationships" id="256" r:id="Re2c70934a2234082"/>
    <p:sldId xmlns:r="http://schemas.openxmlformats.org/officeDocument/2006/relationships" id="257" r:id="R704aa02391f744ef"/>
    <p:sldId xmlns:r="http://schemas.openxmlformats.org/officeDocument/2006/relationships" id="258" r:id="R3f1dd3890cf54e96"/>
    <p:sldId xmlns:r="http://schemas.openxmlformats.org/officeDocument/2006/relationships" id="259" r:id="Rdd0ea35435f3403c"/>
    <p:sldId xmlns:r="http://schemas.openxmlformats.org/officeDocument/2006/relationships" id="260" r:id="R75189d634a3c448e"/>
    <p:sldId xmlns:r="http://schemas.openxmlformats.org/officeDocument/2006/relationships" id="261" r:id="Rc7d03e7ab8d541dd"/>
    <p:sldId xmlns:r="http://schemas.openxmlformats.org/officeDocument/2006/relationships" id="262" r:id="R13cedeb0ad3d49ab"/>
    <p:sldId xmlns:r="http://schemas.openxmlformats.org/officeDocument/2006/relationships" id="263" r:id="R8eeeb242c6f74d4e"/>
    <p:sldId xmlns:r="http://schemas.openxmlformats.org/officeDocument/2006/relationships" id="264" r:id="Rc97a92b63d1e425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c711553539841b9" /><Relationship Type="http://schemas.openxmlformats.org/officeDocument/2006/relationships/slideMaster" Target="/ppt/slideMasters/slideMaster1.xml" Id="Rc03e3cd3dc964ce5" /><Relationship Type="http://schemas.openxmlformats.org/officeDocument/2006/relationships/notesMaster" Target="/ppt/notesMasters/notesMaster1.xml" Id="Rcce1ba9c58464b85" /><Relationship Type="http://schemas.openxmlformats.org/officeDocument/2006/relationships/presProps" Target="/ppt/presProps.xml" Id="R8bb7fdfc68c04e30" /><Relationship Type="http://schemas.openxmlformats.org/officeDocument/2006/relationships/tableStyles" Target="/ppt/tableStyles.xml" Id="Ra55cea0c286d4d11" /><Relationship Type="http://schemas.openxmlformats.org/officeDocument/2006/relationships/slide" Target="/ppt/slides/slide1.xml" Id="Re2c70934a2234082" /><Relationship Type="http://schemas.openxmlformats.org/officeDocument/2006/relationships/slide" Target="/ppt/slides/slide2.xml" Id="R704aa02391f744ef" /><Relationship Type="http://schemas.openxmlformats.org/officeDocument/2006/relationships/slide" Target="/ppt/slides/slide3.xml" Id="R3f1dd3890cf54e96" /><Relationship Type="http://schemas.openxmlformats.org/officeDocument/2006/relationships/slide" Target="/ppt/slides/slide4.xml" Id="Rdd0ea35435f3403c" /><Relationship Type="http://schemas.openxmlformats.org/officeDocument/2006/relationships/slide" Target="/ppt/slides/slide5.xml" Id="R75189d634a3c448e" /><Relationship Type="http://schemas.openxmlformats.org/officeDocument/2006/relationships/slide" Target="/ppt/slides/slide6.xml" Id="Rc7d03e7ab8d541dd" /><Relationship Type="http://schemas.openxmlformats.org/officeDocument/2006/relationships/slide" Target="/ppt/slides/slide7.xml" Id="R13cedeb0ad3d49ab" /><Relationship Type="http://schemas.openxmlformats.org/officeDocument/2006/relationships/slide" Target="/ppt/slides/slide8.xml" Id="R8eeeb242c6f74d4e" /><Relationship Type="http://schemas.openxmlformats.org/officeDocument/2006/relationships/slide" Target="/ppt/slides/slide9.xml" Id="Rc97a92b63d1e425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f68842234df472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a28f20d39414af0" /><Relationship Type="http://schemas.openxmlformats.org/officeDocument/2006/relationships/notesMaster" Target="/ppt/notesMasters/notesMaster1.xml" Id="Re58390aa1719492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3698bed6efe4e43" /><Relationship Type="http://schemas.openxmlformats.org/officeDocument/2006/relationships/notesMaster" Target="/ppt/notesMasters/notesMaster1.xml" Id="Rdf7488eedb3e495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79377062b864da0" /><Relationship Type="http://schemas.openxmlformats.org/officeDocument/2006/relationships/notesMaster" Target="/ppt/notesMasters/notesMaster1.xml" Id="R1f462fa77133495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d25806fe34d4123" /><Relationship Type="http://schemas.openxmlformats.org/officeDocument/2006/relationships/notesMaster" Target="/ppt/notesMasters/notesMaster1.xml" Id="Rc028cdf48bec40b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96b79181c344489" /><Relationship Type="http://schemas.openxmlformats.org/officeDocument/2006/relationships/notesMaster" Target="/ppt/notesMasters/notesMaster1.xml" Id="Re67e5dae0007449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c8db3d46d1a4667" /><Relationship Type="http://schemas.openxmlformats.org/officeDocument/2006/relationships/notesMaster" Target="/ppt/notesMasters/notesMaster1.xml" Id="R596064309939414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9d9b8dade104c4d" /><Relationship Type="http://schemas.openxmlformats.org/officeDocument/2006/relationships/notesMaster" Target="/ppt/notesMasters/notesMaster1.xml" Id="R851e0b44e375410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63fd5cdf40d425c" /><Relationship Type="http://schemas.openxmlformats.org/officeDocument/2006/relationships/notesMaster" Target="/ppt/notesMasters/notesMaster1.xml" Id="Rbc190c60f2b4460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c2a466b0e7b4020" /><Relationship Type="http://schemas.openxmlformats.org/officeDocument/2006/relationships/notesMaster" Target="/ppt/notesMasters/notesMaster1.xml" Id="R6aade21792664b1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claim boundary: this is a theory-grounded, executable design baseline for discussion—not a finished benchmark.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Deck purpose and framing are based on the local Rescue Drone design audit dated 2026-08-16.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the search result early. The audit covered the synced checkout, fetched refs, and accessible GitHub code/branch/PR surfaces. This constrains the wording of all later conclusions.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Git/GitHub audit recorded in reports/maintenance/2026-08-16-rescue-drone-environment-design-review.md, Sections 1–2.</a:t>
            </a:r>
          </a:p>
          <a:p xmlns:a="http://schemas.openxmlformats.org/drawingml/2006/main">
            <a:r>
              <a:t>- Synced origin/main observed at c94e9a4 on 2026-08-16.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as the evaluation rubric. The later Rescue design is judged against all three contracts, not only against an attractive graph.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Causal AI, Draft v0.27, Definition 2.1.1 (printed p.44; PDF p.56).</a:t>
            </a:r>
          </a:p>
          <a:p xmlns:a="http://schemas.openxmlformats.org/drawingml/2006/main">
            <a:r>
              <a:t>- Causal AI, Draft v0.27, Definitions 2.2.1–2.2.6 (printed pp.46–51; PDF pp.58–63).</a:t>
            </a:r>
          </a:p>
          <a:p xmlns:a="http://schemas.openxmlformats.org/drawingml/2006/main">
            <a:r>
              <a:t>- Causal AI, Draft v0.27, Definitions 8.1.1–8.1.4 (printed pp.530–539; PDF pp.542–551).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Lunar Lander as the PhD-authored engineering reference. Then explain why its interface is inherited while its latent lifecycle and causal claims are tightened in Rescue Drone.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file causal_gym/envs/lunar_lander.py, inspected on synced origin/main c94e9a4.</a:t>
            </a:r>
          </a:p>
          <a:p xmlns:a="http://schemas.openxmlformats.org/drawingml/2006/main">
            <a:r>
              <a:t>- Local notebook examples/test_lunar_lander.ipynb.</a:t>
            </a:r>
          </a:p>
          <a:p xmlns:a="http://schemas.openxmlformats.org/drawingml/2006/main">
            <a:r>
              <a:t>- Causal AI, Draft v0.27, Definition 2.4.1 (printed pp.61–63; PDF pp.73–75).</a:t>
            </a:r>
          </a:p>
          <a:p xmlns:a="http://schemas.openxmlformats.org/drawingml/2006/main">
            <a:r>
              <a:t>- Causal AI, Draft v0.27, Example 7.6 (printed pp.521–522; PDF pp.533–534).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key design choice is not the grid. It is the shared stage noise: the same U_i enters natural action, transition, and reward. This generates the confounding relationships shown in the latent projection.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Causal AI, Draft v0.27, Definition 2.1.1 (printed p.44; PDF p.56).</a:t>
            </a:r>
          </a:p>
          <a:p xmlns:a="http://schemas.openxmlformats.org/drawingml/2006/main">
            <a:r>
              <a:t>- Causal AI, Draft v0.27, Definition 2.4.1 (printed pp.61–63; PDF pp.73–75).</a:t>
            </a:r>
          </a:p>
          <a:p xmlns:a="http://schemas.openxmlformats.org/drawingml/2006/main">
            <a:r>
              <a:t>- Causal AI, Draft v0.27, Example 7.2 (printed pp.517–518; PDF pp.529–530).</a:t>
            </a:r>
          </a:p>
          <a:p xmlns:a="http://schemas.openxmlformats.org/drawingml/2006/main">
            <a:r>
              <a:t>- Causal AI, Draft v0.27, Definition 9.4.4 (printed p.623; PDF p.635).</a:t>
            </a:r>
          </a:p>
          <a:p xmlns:a="http://schemas.openxmlformats.org/drawingml/2006/main">
            <a:r>
              <a:t>- Local prototype causal_gym/envs/rescue_drone.py.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 do, stress mechanism replacement and effectiveness. For the L3 diagnostic, stress same-unit evaluation. Also state the limitation: the prototype supports one-step simulator counterfactuals, not arbitrary retrospective identification from logged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Causal AI, Draft v0.27, Definitions 2.2.1–2.2.6 (printed pp.46–51; PDF pp.58–63).</a:t>
            </a:r>
          </a:p>
          <a:p xmlns:a="http://schemas.openxmlformats.org/drawingml/2006/main">
            <a:r>
              <a:t>- Causal AI, Draft v0.27, Definition 7.2.1 and Example 7.6 (printed pp.521–522; PDF pp.533–534).</a:t>
            </a:r>
          </a:p>
          <a:p xmlns:a="http://schemas.openxmlformats.org/drawingml/2006/main">
            <a:r>
              <a:t>- Local prototype causal_gym/envs/rescue_drone.py, RescueDronePCH and unit_counterfactuals().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Separate engineering evidence from scientific validity. The tests prove the intended software contracts; they do not prove that the reward, estimand, or complexity is the right research benchmark.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test command: .venv/bin/python -m pytest tests/test_rescue_drone_draft.py -q; result: 6 passed.</a:t>
            </a:r>
          </a:p>
          <a:p xmlns:a="http://schemas.openxmlformats.org/drawingml/2006/main">
            <a:r>
              <a:t>- Local fresh-kernel execution of examples/test_rescue_drone.ipynb; result: completed successfully.</a:t>
            </a:r>
          </a:p>
          <a:p xmlns:a="http://schemas.openxmlformats.org/drawingml/2006/main">
            <a:r>
              <a:t>- Local Git/GitHub artifact search recorded in reports/maintenance/2026-08-16-rescue-drone-environment-design-review.md.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the meeting to approve P0. P1 is straightforward engineering once P0 is fixed. P2 is where benchmark claims begin, with baselines and uncertainty—not before.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Roadmap synthesized from the local Rescue Drone design audit, Section 7.</a:t>
            </a:r>
          </a:p>
          <a:p xmlns:a="http://schemas.openxmlformats.org/drawingml/2006/main">
            <a:r>
              <a:t>- Causal AI, Draft v0.27, Definitions 8.1.1–8.1.4 (printed pp.530–539; PDF pp.542–551).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End by asking for decisions, not general feedback. Record the answers verbatim because each one changes the formal task or information structure.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Decision list from reports/maintenance/2026-08-16-rescue-drone-environment-design-review.md, Section 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65e27e1c3141c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1ae931773244b40" /><Relationship Type="http://schemas.openxmlformats.org/officeDocument/2006/relationships/slideLayout" Target="/ppt/slideLayouts/slideLayout1.xml" Id="R3f65f07c065147a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f65f07c065147a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31c50ec5ed48dc" /><Relationship Type="http://schemas.openxmlformats.org/officeDocument/2006/relationships/notesSlide" Target="/ppt/notesSlides/notesSlide1.xml" Id="R5bd28e4b64b4470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7e73d9293a44ab" /><Relationship Type="http://schemas.openxmlformats.org/officeDocument/2006/relationships/notesSlide" Target="/ppt/notesSlides/notesSlide2.xml" Id="R43b8327cf9dc484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eae4d52cab431a" /><Relationship Type="http://schemas.openxmlformats.org/officeDocument/2006/relationships/notesSlide" Target="/ppt/notesSlides/notesSlide3.xml" Id="Rf99408b21b164b8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b20f70728f430c" /><Relationship Type="http://schemas.openxmlformats.org/officeDocument/2006/relationships/notesSlide" Target="/ppt/notesSlides/notesSlide4.xml" Id="Rc34035292cf74f7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b2dc51edd64483" /><Relationship Type="http://schemas.openxmlformats.org/officeDocument/2006/relationships/notesSlide" Target="/ppt/notesSlides/notesSlide5.xml" Id="R4cd30ab80f864fa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a994f33d7045f3" /><Relationship Type="http://schemas.openxmlformats.org/officeDocument/2006/relationships/notesSlide" Target="/ppt/notesSlides/notesSlide6.xml" Id="R3c954a6b927140d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ef08bc53924932" /><Relationship Type="http://schemas.openxmlformats.org/officeDocument/2006/relationships/notesSlide" Target="/ppt/notesSlides/notesSlide7.xml" Id="Rc12d60ee7a8e4b0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fd5644cbb94041" /><Relationship Type="http://schemas.openxmlformats.org/officeDocument/2006/relationships/notesSlide" Target="/ppt/notesSlides/notesSlide8.xml" Id="Rf5c89da25a4945c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4abd8b05e34ffc" /><Relationship Type="http://schemas.openxmlformats.org/officeDocument/2006/relationships/notesSlide" Target="/ppt/notesSlides/notesSlide9.xml" Id="Rce1add17f8fa44b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7E1C10-C295-462C-A8CA-845B9EDF4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000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CAUSAL GYMNASIUM · DESIGN REVIEW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51525CAA-7E24-45A4-A72E-503AEC9C1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57350"/>
            <a:ext cx="9620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55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55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Rescue Drone</a:t>
            </a:r>
          </a:p>
          <a:p xmlns:a="http://schemas.openxmlformats.org/drawingml/2006/main">
            <a:pPr algn="l">
              <a:defRPr sz="55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55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as a Causal Environment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2D7E8B-13A1-4C43-9D1C-E34BE240F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95825"/>
            <a:ext cx="723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Theory contract · executable prototype · decisions for next iteration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D712A4-771F-4552-90E6-A95ABE208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1685925"/>
            <a:ext cx="95250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D59A5A-5FC7-4431-8CFD-2518E599E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885950"/>
            <a:ext cx="1285875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SCM</a:t>
            </a:r>
          </a:p>
          <a:p xmlns:a="http://schemas.openxmlformats.org/drawingml/2006/main">
            <a:pPr algn="ctr">
              <a:defRPr sz="19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↓</a:t>
            </a:r>
          </a:p>
          <a:p xmlns:a="http://schemas.openxmlformats.org/drawingml/2006/main">
            <a:pPr algn="ctr">
              <a:defRPr sz="19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PCH</a:t>
            </a:r>
          </a:p>
          <a:p xmlns:a="http://schemas.openxmlformats.org/drawingml/2006/main">
            <a:pPr algn="ctr">
              <a:defRPr sz="19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↓</a:t>
            </a:r>
          </a:p>
          <a:p xmlns:a="http://schemas.openxmlformats.org/drawingml/2006/main">
            <a:pPr algn="ctr">
              <a:defRPr sz="19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CDM / CRL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8CA325-57D6-45B7-B7D7-C78CF4B1F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LAB MEETING · 17 AUG 2026</a:t>
            </a:r>
          </a:p>
        </p:txBody>
      </p:sp>
    </p:spTree>
    <p:extLst>
      <p:ext uri="{BB962C8B-B14F-4D97-AF65-F5344CB8AC3E}">
        <p14:creationId xmlns:p14="http://schemas.microsoft.com/office/powerpoint/2010/main" val="1013010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724E4315-E9A6-4D2D-8713-E81B8E860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11410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honest starting point: no traceable Rescue artifact</a:t>
            </a:r>
          </a:p>
        </p:txBody>
      </p:sp>
      <p:sp>
        <p:nvSpPr>
          <p:cNvPr id="2" name="slide-2-number">
            <a:extLst xmlns:a="http://schemas.openxmlformats.org/drawingml/2006/main">
              <a:ext uri="{FF2B5EF4-FFF2-40B4-BE49-F238E27FC236}">
                <a16:creationId xmlns:a16="http://schemas.microsoft.com/office/drawing/2014/main" id="{5E622703-C082-472E-90BB-79F817E97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A94518-78DD-4DD5-B647-D50AF45CD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76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REPOSITORY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BBE907-51A0-40FF-B7B7-3802AD840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09750"/>
            <a:ext cx="285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96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6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35C164-B7EA-4822-A708-A426CDF7F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67125"/>
            <a:ext cx="3714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matching Rescue / Drone</a:t>
            </a:r>
          </a:p>
          <a:p xmlns:a="http://schemas.openxmlformats.org/drawingml/2006/main">
            <a:pPr algn="l">
              <a:defRPr sz="202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files · branches · PRs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6F8E44-6830-478B-B589-17AE89CE6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485900"/>
            <a:ext cx="14288" cy="401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EFA119-DE67-4E23-87B4-BF93B933C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4763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WHAT WE CAN CLAIM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7436BB-B9A9-41D1-A0A1-36D19C87D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952625"/>
            <a:ext cx="5810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• Lunar Lander is the latest traceable role-model architecture.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D5F45D-A5CE-4552-9C7B-ADD1DE6D7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790825"/>
            <a:ext cx="5810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• The new Rescue design is a provisional reference implementation.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696400-A0D8-485E-852A-465B27CDE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629025"/>
            <a:ext cx="5810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• A source-to-source audit remains pending until the original artifact is found.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C62898-2905-404D-B0D7-3C8F61296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9530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Evidence boundary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B93191-2FF7-4E53-A815-1CDACBF44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5248275"/>
            <a:ext cx="581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Do not present the prototype as an update to code we cannot locate.</a:t>
            </a:r>
          </a:p>
        </p:txBody>
      </p:sp>
    </p:spTree>
    <p:extLst>
      <p:ext uri="{BB962C8B-B14F-4D97-AF65-F5344CB8AC3E}">
        <p14:creationId xmlns:p14="http://schemas.microsoft.com/office/powerpoint/2010/main" val="4864416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1890802B-5789-44E2-95D6-A1B88A92D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11410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causal environment needs three explicit contracts</a:t>
            </a:r>
          </a:p>
        </p:txBody>
      </p:sp>
      <p:sp>
        <p:nvSpPr>
          <p:cNvPr id="2" name="slide-3-number">
            <a:extLst xmlns:a="http://schemas.openxmlformats.org/drawingml/2006/main">
              <a:ext uri="{FF2B5EF4-FFF2-40B4-BE49-F238E27FC236}">
                <a16:creationId xmlns:a16="http://schemas.microsoft.com/office/drawing/2014/main" id="{A39A0C3F-C80F-42E0-AD46-70D011018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05A190-2D50-425F-B7DE-F9FAF19E1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2382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A gridworld becomes causal only when mechanisms, interactions, and the decision task agree.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58C46B-7221-402C-B9DD-EDA8BCD59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956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1EF018-3CD1-4321-9EF9-6B04B0896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19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9E70D8-C203-4B1C-B0EF-52F001664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955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01 · SCM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76D8E0-8963-479A-B949-42C343C0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6235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Define the world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9F1E95-EFBC-4BBF-B05B-F6E5CE643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3143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M = ⟨U, V, F, P(U)⟩</a:t>
            </a:r>
          </a:p>
          <a:p xmlns:a="http://schemas.openxmlformats.org/drawingml/2006/main">
            <a:pPr algn="l">
              <a:defRPr sz="157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Variables, mechanisms, and exogenous distribution.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E38183-0376-468E-A186-0D0812ECC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019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B7A165-99A6-46B1-8466-89D481F97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2955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02 · PCH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ED7BD2-EC41-48BB-8E8E-BAF22A4F7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56235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Define access to worlds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F2A364-9088-4535-BA25-FEE99F042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286250"/>
            <a:ext cx="3143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see · do · counterfactual</a:t>
            </a:r>
          </a:p>
          <a:p xmlns:a="http://schemas.openxmlformats.org/drawingml/2006/main">
            <a:pPr algn="l">
              <a:defRPr sz="157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Which mechanism changes—and which unit stays fixed.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909968-2921-48A4-95F8-B494CDAC5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19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D0E3F5-29EF-4C42-B681-9366AA3FE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955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03 · CDM / CRL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AC6B9F-E1AF-4B3F-A4B4-F73379251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56235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Define the learning problem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818575-7575-49B3-87D8-73C9B1854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286250"/>
            <a:ext cx="3143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Policy space · reward · regime · assumptions</a:t>
            </a:r>
          </a:p>
          <a:p xmlns:a="http://schemas.openxmlformats.org/drawingml/2006/main">
            <a:pPr algn="l">
              <a:defRPr sz="157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What is optimized, learned, and claimed.</a:t>
            </a:r>
          </a:p>
        </p:txBody>
      </p:sp>
    </p:spTree>
    <p:extLst>
      <p:ext uri="{BB962C8B-B14F-4D97-AF65-F5344CB8AC3E}">
        <p14:creationId xmlns:p14="http://schemas.microsoft.com/office/powerpoint/2010/main" val="7719289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F05A7784-330D-4256-A7E7-CE1F39521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11410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Lunar Lander is a strong scaffold—not a theory oracle</a:t>
            </a:r>
          </a:p>
        </p:txBody>
      </p:sp>
      <p:sp>
        <p:nvSpPr>
          <p:cNvPr id="2" name="slide-4-number">
            <a:extLst xmlns:a="http://schemas.openxmlformats.org/drawingml/2006/main">
              <a:ext uri="{FF2B5EF4-FFF2-40B4-BE49-F238E27FC236}">
                <a16:creationId xmlns:a16="http://schemas.microsoft.com/office/drawing/2014/main" id="{B5D0183C-6E56-4F6E-B1AD-78DA00F6E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03F3D1-CDD1-4F13-A86F-B73C48EF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200150"/>
            <a:ext cx="723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Reuse the architecture. Re-derive the causal contract.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A3D796-A956-4DBF-9E5D-E108DF1B5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19275"/>
            <a:ext cx="14288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EAC5A6-EA09-4963-9A03-71906ACA5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91452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80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5803D"/>
                </a:solidFill>
                <a:latin typeface="Helvetica Neue"/>
                <a:ea typeface="Helvetica Neue"/>
                <a:cs typeface="Helvetica Neue"/>
              </a:rPr>
              <a:t>KEEP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70B8D6-5C9B-42CF-9A06-451FC6FDF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3050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Engineering structure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DEDFC3-9D1D-4A1A-BA64-7538EE8EE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38475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• SCM / PCH class separation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15F16C-BEEA-447A-9965-61C6E2EE0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619500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• sample_u + Gym reset / step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8E792B-648E-4027-809D-A6A40BF51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200525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• see / do / ctf_do vocabulary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132EC4-C11A-442A-9B22-2CB25A77F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81550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• causal graph + render + notebook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CDBEAD-BC4B-4E7E-8977-11AE5C569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191452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REPAIR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9D9E2B-FA3E-4371-AE9E-5AD662B91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3050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Causal semantics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4E7319-C792-479A-BD03-B08C192B2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952750"/>
            <a:ext cx="4953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• Natural action must share the current Uᵢ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509773-2A67-4F69-80EA-D309E7531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467100"/>
            <a:ext cx="4953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• Latents stay hidden unless debug is explicit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ED0C5A-6350-4F62-A915-064F8842D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981450"/>
            <a:ext cx="4953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• Graph edges must follow function arguments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DF5DF1-F25E-4DCF-84E6-CE0468841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495800"/>
            <a:ext cx="4953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• ctf_do is not an arbitrary L3 engine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2A3C58-DB00-49B8-AD44-F251B361C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5010150"/>
            <a:ext cx="4953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• Assumptions need ADMG / semi-Markovian labels</a:t>
            </a:r>
          </a:p>
        </p:txBody>
      </p:sp>
    </p:spTree>
    <p:extLst>
      <p:ext uri="{BB962C8B-B14F-4D97-AF65-F5344CB8AC3E}">
        <p14:creationId xmlns:p14="http://schemas.microsoft.com/office/powerpoint/2010/main" val="16974199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587F74E6-52C7-46D4-8534-0EE37306B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11410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Proposed SCM: confounding lives in the mechanism</a:t>
            </a:r>
          </a:p>
        </p:txBody>
      </p:sp>
      <p:sp>
        <p:nvSpPr>
          <p:cNvPr id="2" name="slide-5-number">
            <a:extLst xmlns:a="http://schemas.openxmlformats.org/drawingml/2006/main">
              <a:ext uri="{FF2B5EF4-FFF2-40B4-BE49-F238E27FC236}">
                <a16:creationId xmlns:a16="http://schemas.microsoft.com/office/drawing/2014/main" id="{2332279F-66E8-4149-B461-84678A23E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739C41-9A57-4BFA-A949-20AECD7C2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811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STAGE-WISE STRUCTURAL EQUATIONS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D3A692-C107-4F57-9DFD-115266EA5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66900"/>
            <a:ext cx="4905375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827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111827"/>
                </a:solidFill>
                <a:latin typeface="Menlo"/>
                <a:ea typeface="Menlo"/>
                <a:cs typeface="Menlo"/>
              </a:rPr>
              <a:t>Uᵢ = (gustᵢ, hazardᵢ)  ~  P(Uᵢ)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11827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111827"/>
                </a:solidFill>
                <a:latin typeface="Menlo"/>
                <a:ea typeface="Menlo"/>
                <a:cs typeface="Menlo"/>
              </a:rPr>
              <a:t>Oᵢ ← fᴏ(Sᵢ)</a:t>
            </a:r>
          </a:p>
          <a:p xmlns:a="http://schemas.openxmlformats.org/drawingml/2006/main">
            <a:pPr algn="l">
              <a:defRPr sz="1875" b="0">
                <a:solidFill>
                  <a:srgbClr val="111827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111827"/>
                </a:solidFill>
                <a:latin typeface="Menlo"/>
                <a:ea typeface="Menlo"/>
                <a:cs typeface="Menlo"/>
              </a:rPr>
              <a:t>Xᵢ ← fₓ(Oᵢ, Uᵢ)</a:t>
            </a:r>
          </a:p>
          <a:p xmlns:a="http://schemas.openxmlformats.org/drawingml/2006/main">
            <a:pPr algn="l">
              <a:defRPr sz="1875" b="0">
                <a:solidFill>
                  <a:srgbClr val="111827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111827"/>
                </a:solidFill>
                <a:latin typeface="Menlo"/>
                <a:ea typeface="Menlo"/>
                <a:cs typeface="Menlo"/>
              </a:rPr>
              <a:t>Sᵢ₊₁ ← fₛ(Sᵢ, Xᵢ, Uᵢ)</a:t>
            </a:r>
          </a:p>
          <a:p xmlns:a="http://schemas.openxmlformats.org/drawingml/2006/main">
            <a:pPr algn="l">
              <a:defRPr sz="1875" b="0">
                <a:solidFill>
                  <a:srgbClr val="111827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111827"/>
                </a:solidFill>
                <a:latin typeface="Menlo"/>
                <a:ea typeface="Menlo"/>
                <a:cs typeface="Menlo"/>
              </a:rPr>
              <a:t>Yᵢ ← fʏ(Sᵢ, Xᵢ, Uᵢ)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53C4F2-C2B1-4CD1-A562-37FD18BC8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476875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Learner observation excludes Uᵢ. The natural pilot can sense gustᵢ.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3CE626-797D-424C-BEA0-1C3E3B4F9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390650"/>
            <a:ext cx="14288" cy="455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5EF757-C8AA-4951-94F4-EB1C4F339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130554">
            <a:off x="6841182" y="3114675"/>
            <a:ext cx="1938636" cy="1047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58B74E-A5DC-4DE4-957E-AD148C42B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039460">
            <a:off x="8260438" y="3114675"/>
            <a:ext cx="909874" cy="1047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5C6A4C-01E5-4F07-8713-2DA2D3D20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524463">
            <a:off x="8565757" y="3114675"/>
            <a:ext cx="2108986" cy="1047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F00ACC-5B40-4850-A4B2-5DDACCFA1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57350"/>
            <a:ext cx="2571750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19050">
            <a:solidFill>
              <a:srgbClr val="F97316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FDA195-9CA9-43B2-BB2A-8226C9E0F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857375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Uᵢ · shared exogenous reality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D72AFF-0BEA-44E0-AFED-CC00733FE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19500"/>
            <a:ext cx="1619250" cy="1123950"/>
          </a:xfrm>
          <a:prstGeom xmlns:a="http://schemas.openxmlformats.org/drawingml/2006/main" prst="roundRect">
            <a:avLst>
              <a:gd name="adj" fmla="val 11864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92F2CD-14DA-4763-B996-E636D5AE7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71900"/>
            <a:ext cx="1352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54CC07-3C2B-4A59-9FCF-163CAC67C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76725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Oᵢ, Uᵢ → Xᵢ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E24223-71AE-4FFD-A3E0-F80A34C98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19500"/>
            <a:ext cx="1619250" cy="1123950"/>
          </a:xfrm>
          <a:prstGeom xmlns:a="http://schemas.openxmlformats.org/drawingml/2006/main" prst="roundRect">
            <a:avLst>
              <a:gd name="adj" fmla="val 11864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F3B6C5-C661-42CD-A402-D7CDDFA1F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771900"/>
            <a:ext cx="1352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4D9A29-74C3-4992-9B55-E32E82076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76725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Sᵢ, Xᵢ, Uᵢ → Yᵢ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859F02-C319-4D6B-997C-6D662999A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619500"/>
            <a:ext cx="1619250" cy="1123950"/>
          </a:xfrm>
          <a:prstGeom xmlns:a="http://schemas.openxmlformats.org/drawingml/2006/main" prst="roundRect">
            <a:avLst>
              <a:gd name="adj" fmla="val 11864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CA187E-E38E-4FD4-A5AA-1F6611413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771900"/>
            <a:ext cx="1352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6EE3B2-603F-48E8-9743-378BA124B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276725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Sᵢ, Xᵢ, Uᵢ → Sᵢ₊₁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A2D302-B07C-4A33-B871-880C5E47D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958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Latent projection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2D0AC9-5220-4FAF-B8B7-4CBBF2978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00675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X ↔ Y    ·    X ↔ S′    ·    Y ↔ S′</a:t>
            </a:r>
          </a:p>
        </p:txBody>
      </p:sp>
    </p:spTree>
    <p:extLst>
      <p:ext uri="{BB962C8B-B14F-4D97-AF65-F5344CB8AC3E}">
        <p14:creationId xmlns:p14="http://schemas.microsoft.com/office/powerpoint/2010/main" val="6480429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3147DE6F-3017-4F5C-A48E-D2FABCE86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11410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One Uᵢ; three interaction regimes</a:t>
            </a:r>
          </a:p>
        </p:txBody>
      </p:sp>
      <p:sp>
        <p:nvSpPr>
          <p:cNvPr id="2" name="slide-6-number">
            <a:extLst xmlns:a="http://schemas.openxmlformats.org/drawingml/2006/main">
              <a:ext uri="{FF2B5EF4-FFF2-40B4-BE49-F238E27FC236}">
                <a16:creationId xmlns:a16="http://schemas.microsoft.com/office/drawing/2014/main" id="{9148B60A-A2FE-4CEB-913E-975B38F62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72DE05-5B95-4C76-8BD7-A547E3B88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2001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Every regime preserves the same transition, reward, and exogenous distribution. Only the action mechanism changes.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42B40C-D5C7-4607-9F99-DD77A6C96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0037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40D9A4-0AB1-405D-BC77-E53A6356D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D43D68-B592-43DE-B937-A8398A62E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764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SEE · L1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7EABAA-6678-48B8-B22A-CE6D69344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57575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Natural action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669906-0A42-4555-8F23-18FF95BA9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14800"/>
            <a:ext cx="3143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Xᵢ = fₓ(Oᵢ, Uᵢ)</a:t>
            </a:r>
          </a:p>
          <a:p xmlns:a="http://schemas.openxmlformats.org/drawingml/2006/main">
            <a:pPr algn="l">
              <a:defRPr sz="157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Observe the world generated by its original mechanism.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B5EAFD-9B9F-44B4-B0F0-1C29D49CB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EBABEB-C0BB-47FB-80E0-EC65220EA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2764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DO · L2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E1A185-CB84-4A2A-A022-9074B588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457575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Replace fₓ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DD8A09-D097-426D-B4B7-8938ACC6A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114800"/>
            <a:ext cx="3143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Xᵢ = π(Oᵢ)</a:t>
            </a:r>
          </a:p>
          <a:p xmlns:a="http://schemas.openxmlformats.org/drawingml/2006/main">
            <a:pPr algn="l">
              <a:defRPr sz="157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Keep fₛ, fʏ, and P(U) unchanged.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9F2192-4504-4518-BD48-D2CC1D6DA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B8DBD0-F0A5-4419-97AB-8BA26CFE9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764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CTF-DO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77F2FB-4BD2-4015-9699-8CBB2EEB9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457575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Condition on intention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C95D6F-A2BF-4282-8205-DBE430055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114800"/>
            <a:ext cx="3143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Xᵢ = π(Oᵢ, intendedᵢ)</a:t>
            </a:r>
          </a:p>
          <a:p xmlns:a="http://schemas.openxmlformats.org/drawingml/2006/main">
            <a:pPr algn="l">
              <a:defRPr sz="157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Use the same Uᵢ for the realized outcome.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A7EF64-2099-4FBE-BBFF-6518D4B5F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76900"/>
            <a:ext cx="110490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44CE23-B763-4978-8845-ACCFECC0C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72150"/>
            <a:ext cx="10687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L3 diagnostic: compare all candidate actions from the same Sᵢ and the same Uᵢ—never resample the unit.</a:t>
            </a:r>
          </a:p>
        </p:txBody>
      </p:sp>
    </p:spTree>
    <p:extLst>
      <p:ext uri="{BB962C8B-B14F-4D97-AF65-F5344CB8AC3E}">
        <p14:creationId xmlns:p14="http://schemas.microsoft.com/office/powerpoint/2010/main" val="5653567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928E207D-40BD-44C5-95D3-B7F6BBF91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11410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Engineering evidence is green; research validity remains open</a:t>
            </a:r>
          </a:p>
        </p:txBody>
      </p:sp>
      <p:sp>
        <p:nvSpPr>
          <p:cNvPr id="2" name="slide-7-number">
            <a:extLst xmlns:a="http://schemas.openxmlformats.org/drawingml/2006/main">
              <a:ext uri="{FF2B5EF4-FFF2-40B4-BE49-F238E27FC236}">
                <a16:creationId xmlns:a16="http://schemas.microsoft.com/office/drawing/2014/main" id="{738206B0-A0F4-4BFE-A184-7DB3A8C2B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4DF727-FC53-4793-BF16-4A21071CE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811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The prototype follows the Lunar architecture while making the exogenous lifecycle explicit.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D3FAE4-F3FB-4C49-9727-0EAE2AC93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95625" y="2085975"/>
            <a:ext cx="123825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7F6FE9-B688-4C24-AE68-EDA01681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10375" y="2085975"/>
            <a:ext cx="123825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D440DA-70AD-4468-B02A-75F600B7D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52600"/>
            <a:ext cx="2524125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B4A993-E81F-42C9-96FC-654E9F661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95475"/>
            <a:ext cx="22574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Agent / policy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0564BF-B34E-4D5C-B314-2A95F063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09800"/>
            <a:ext cx="22574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sees Oᵢ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B91EA6-8C42-4362-811C-55D5CEC10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752600"/>
            <a:ext cx="24765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1BB2E8-5084-4C48-994C-4FE6A7261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895475"/>
            <a:ext cx="220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RescueDronePCH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8E5C2C-C574-462F-960E-A9ACEEC2B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209800"/>
            <a:ext cx="2209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see · do · ctf_do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1A9981-A499-4259-88A1-C0C79CF22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752600"/>
            <a:ext cx="34290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0B873B-D6B7-4151-9C3E-39E5E0B8C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1895475"/>
            <a:ext cx="3162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RescueDroneSCM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F7FB89-D50E-4CD6-9FD6-BF85445BF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209800"/>
            <a:ext cx="3162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prepare U → transition → consume U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60A07D-A6B4-49E7-8DBA-53A1AEAA6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95625"/>
            <a:ext cx="3562350" cy="268605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7C76B6-BE36-44B8-A735-B2DDAEA60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409950"/>
            <a:ext cx="29908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6 / 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B4F980-5D59-40BA-A646-5140E4340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410075"/>
            <a:ext cx="2990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targeted tests passed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DCEB94-40EF-4F7E-ABBB-C4F8EDE38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029200"/>
            <a:ext cx="2990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seeding · leakage · regimes · graph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977048-2EFD-4B25-B55B-3FF9046B5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095625"/>
            <a:ext cx="3562350" cy="268605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105A21-AF97-4641-8455-F03C6D111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409950"/>
            <a:ext cx="29908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PASS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566B93-6B24-4277-BE19-3C959B932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410075"/>
            <a:ext cx="2990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fresh-kernel notebook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BBC8C2-0EFE-4181-A4B3-E538F05F3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5029200"/>
            <a:ext cx="2990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SCM · regimes · L3 · render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F298E0-EFFB-47E8-8E82-1D2E0FFB7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95625"/>
            <a:ext cx="3562350" cy="268605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1B3167-B2E1-4E40-B348-D6DD570EC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409950"/>
            <a:ext cx="29908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42A580-64B3-4B85-8D71-A908FC026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10075"/>
            <a:ext cx="2990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original Rescue artifacts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2293B6-85D0-4042-B948-DB997B346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029200"/>
            <a:ext cx="2990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source-to-source audit still blocked</a:t>
            </a:r>
          </a:p>
        </p:txBody>
      </p:sp>
    </p:spTree>
    <p:extLst>
      <p:ext uri="{BB962C8B-B14F-4D97-AF65-F5344CB8AC3E}">
        <p14:creationId xmlns:p14="http://schemas.microsoft.com/office/powerpoint/2010/main" val="20943667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07772988-07F6-417B-8015-D1DE4421F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11410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From prototype to research benchmark</a:t>
            </a:r>
          </a:p>
        </p:txBody>
      </p:sp>
      <p:sp>
        <p:nvSpPr>
          <p:cNvPr id="2" name="slide-8-number">
            <a:extLst xmlns:a="http://schemas.openxmlformats.org/drawingml/2006/main">
              <a:ext uri="{FF2B5EF4-FFF2-40B4-BE49-F238E27FC236}">
                <a16:creationId xmlns:a16="http://schemas.microsoft.com/office/drawing/2014/main" id="{FDB22C83-4155-43A7-BE85-AFA2FB9D4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94DC3C-9989-4C2D-BC31-B18903C5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2192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Move only after the causal question and information structure are fixed.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ADB466-5451-418F-B7EC-F10149AE3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0037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FEA8B8-01F3-44B3-B72C-60F271985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FDF675-D72B-404F-9896-762EEFFD8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P0 · DECIDE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9C85DA-C763-49A2-A739-E12F1FE52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57575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Scientific contract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86DA09-1199-47D9-9C39-84556EB00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719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Find original artifact</a:t>
            </a:r>
          </a:p>
          <a:p xmlns:a="http://schemas.openxmlformats.org/drawingml/2006/main">
            <a:pPr algn="l">
              <a:defRPr sz="15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Choose estimand + reward</a:t>
            </a:r>
          </a:p>
          <a:p xmlns:a="http://schemas.openxmlformats.org/drawingml/2006/main">
            <a:pPr algn="l">
              <a:defRPr sz="15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Fix who observes what</a:t>
            </a:r>
          </a:p>
          <a:p xmlns:a="http://schemas.openxmlformats.org/drawingml/2006/main">
            <a:pPr algn="l">
              <a:defRPr sz="15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Choose i.i.d. vs persistent wind</a:t>
            </a:r>
          </a:p>
          <a:p xmlns:a="http://schemas.openxmlformats.org/drawingml/2006/main">
            <a:pPr algn="l">
              <a:defRPr sz="15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Add ADMG assumption label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072D8F-CD72-4523-8DFD-CF2EE172E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F8220B-2108-4F81-B96F-EB7085AD1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2860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P1 · INTEGRATE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B60026-CA6E-44CC-B299-AB6F2F3E4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457575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Mergeable environment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0198FC-30B9-4F0F-91FB-8CBEDCA38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1719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Register the environment</a:t>
            </a:r>
          </a:p>
          <a:p xmlns:a="http://schemas.openxmlformats.org/drawingml/2006/main">
            <a:pPr algn="l">
              <a:defRPr sz="15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Standardize policy signatures</a:t>
            </a:r>
          </a:p>
          <a:p xmlns:a="http://schemas.openxmlformats.org/drawingml/2006/main">
            <a:pPr algn="l">
              <a:defRPr sz="15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Property-test effectiveness</a:t>
            </a:r>
          </a:p>
          <a:p xmlns:a="http://schemas.openxmlformats.org/drawingml/2006/main">
            <a:pPr algn="l">
              <a:defRPr sz="15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Separate see / do datasets</a:t>
            </a:r>
          </a:p>
          <a:p xmlns:a="http://schemas.openxmlformats.org/drawingml/2006/main">
            <a:pPr algn="l">
              <a:defRPr sz="15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Finalize Task metadata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6BD508-9780-42B0-86E6-30F85B162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C7CC86-AAFD-485F-95F2-B8B55B50F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860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P2 · BENCHMARK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9EB0ED-F9B0-46CC-89FF-37E7523F9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457575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Research 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BD372B-0FA9-4277-A5DA-6E1CE0516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1719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Persistent weather / belief state</a:t>
            </a:r>
          </a:p>
          <a:p xmlns:a="http://schemas.openxmlformats.org/drawingml/2006/main">
            <a:pPr algn="l">
              <a:defRPr sz="15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Causal + RL baselines</a:t>
            </a:r>
          </a:p>
          <a:p xmlns:a="http://schemas.openxmlformats.org/drawingml/2006/main">
            <a:pPr algn="l">
              <a:defRPr sz="15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Paired seeds + intervals</a:t>
            </a:r>
          </a:p>
          <a:p xmlns:a="http://schemas.openxmlformats.org/drawingml/2006/main">
            <a:pPr algn="l">
              <a:defRPr sz="15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Confounding ablations</a:t>
            </a:r>
          </a:p>
          <a:p xmlns:a="http://schemas.openxmlformats.org/drawingml/2006/main">
            <a:pPr algn="l">
              <a:defRPr sz="15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Pre-registered metrics</a:t>
            </a:r>
          </a:p>
        </p:txBody>
      </p:sp>
    </p:spTree>
    <p:extLst>
      <p:ext uri="{BB962C8B-B14F-4D97-AF65-F5344CB8AC3E}">
        <p14:creationId xmlns:p14="http://schemas.microsoft.com/office/powerpoint/2010/main" val="2836037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7F1AC3C1-A0FD-4AD0-85B7-CBEBC714B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11410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Tomorrow’s goal: five decisions, not a premature benchmark claim</a:t>
            </a:r>
          </a:p>
        </p:txBody>
      </p:sp>
      <p:sp>
        <p:nvSpPr>
          <p:cNvPr id="2" name="slide-9-number">
            <a:extLst xmlns:a="http://schemas.openxmlformats.org/drawingml/2006/main">
              <a:ext uri="{FF2B5EF4-FFF2-40B4-BE49-F238E27FC236}">
                <a16:creationId xmlns:a16="http://schemas.microsoft.com/office/drawing/2014/main" id="{9FAD7694-373B-41B8-A45B-56DB43C48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2BB403-EBA1-4BED-A1F7-352D58E90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668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PROPOSED MEETING OUTCOME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D097DC-251A-49CF-A760-B1C620CE3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933575"/>
            <a:ext cx="5334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Approve the causal contract</a:t>
            </a:r>
          </a:p>
          <a:p xmlns:a="http://schemas.openxmlformats.org/drawingml/2006/main">
            <a:pPr algn="l">
              <a:defRPr sz="32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before optimizing the benchmark.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DA00D6-3795-4EDF-ABB7-39CCB25FC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476750"/>
            <a:ext cx="5000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Then the prototype becomes a stable implementation plan—not a moving research target.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85AEF8-E5F0-4367-BD98-9B5BCFCF4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504950"/>
            <a:ext cx="14288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482C58-F1DD-406A-8BA5-E052F819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600200"/>
            <a:ext cx="51911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1. Where is the original Rescue artifact?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66C8C9-A73B-4C1C-8A8A-A3D6B7B56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324100"/>
            <a:ext cx="51911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2. What is the primary causal query / estimand?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392A33-63BD-46E3-8381-B2284CF71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048000"/>
            <a:ext cx="51911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3. What can the natural pilot and learner observe?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3D1BF3-8CEB-41C0-BA4D-6A1DD06E5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771900"/>
            <a:ext cx="51911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4. Is weather i.i.d., episode-persistent, or spatially fixed?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07CCAC-2297-4554-8AF6-E592C8795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495800"/>
            <a:ext cx="51911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5. How are success, time, energy, and risk prioritized?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DAFFBE-E9F7-463A-9DB7-28CDC5895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10250"/>
            <a:ext cx="112204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EAF7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E9D796-AE6F-4332-B9F1-CE629376F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876925"/>
            <a:ext cx="10839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80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5803D"/>
                </a:solidFill>
                <a:latin typeface="Helvetica Neue"/>
                <a:ea typeface="Helvetica Neue"/>
                <a:cs typeface="Helvetica Neue"/>
              </a:rPr>
              <a:t>Decision gate → approved causal contract → mergeable Rescue Drone environment</a:t>
            </a:r>
          </a:p>
        </p:txBody>
      </p:sp>
    </p:spTree>
    <p:extLst>
      <p:ext uri="{BB962C8B-B14F-4D97-AF65-F5344CB8AC3E}">
        <p14:creationId xmlns:p14="http://schemas.microsoft.com/office/powerpoint/2010/main" val="14990533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2026-08-16T16:38:03.2410000Z</dcterms:created>
  <dcterms:modified xsi:type="dcterms:W3CDTF">2026-08-16T16:38:03.2410000Z</dcterms:modified>
</coreProperties>
</file>